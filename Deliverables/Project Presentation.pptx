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259" r:id="rId3"/>
    <p:sldId id="327" r:id="rId4"/>
    <p:sldId id="333" r:id="rId5"/>
    <p:sldId id="350" r:id="rId6"/>
    <p:sldId id="351" r:id="rId7"/>
    <p:sldId id="328" r:id="rId8"/>
    <p:sldId id="329" r:id="rId9"/>
    <p:sldId id="335" r:id="rId10"/>
    <p:sldId id="330" r:id="rId11"/>
    <p:sldId id="345" r:id="rId12"/>
    <p:sldId id="346" r:id="rId13"/>
    <p:sldId id="352" r:id="rId14"/>
    <p:sldId id="349" r:id="rId15"/>
    <p:sldId id="326" r:id="rId1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053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94660"/>
  </p:normalViewPr>
  <p:slideViewPr>
    <p:cSldViewPr>
      <p:cViewPr varScale="1">
        <p:scale>
          <a:sx n="84" d="100"/>
          <a:sy n="84" d="100"/>
        </p:scale>
        <p:origin x="145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349C0CB-3077-4A2C-A263-34908B18F1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0FDBD4-CECE-4489-86D6-D12748BF192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18AD1CAA-8E5C-49F6-8938-72360B2BE9BA}" type="datetimeFigureOut">
              <a:rPr lang="en-US"/>
              <a:pPr>
                <a:defRPr/>
              </a:pPr>
              <a:t>4/1/2026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AF0860-EA4C-470F-953E-A330E0ABA9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CD5A3C-3604-4181-BB10-EF1F20AB415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E5D8934D-CC79-41E4-84A0-8E210C28D03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41F8ED2-BED6-42C2-80BF-D0DDEF1BB6B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0A5090-DDE5-4846-93BE-A1655C2571B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94D85942-DFC5-4B20-B5C9-CCE8F5D93199}" type="datetimeFigureOut">
              <a:rPr lang="en-US"/>
              <a:pPr>
                <a:defRPr/>
              </a:pPr>
              <a:t>4/1/2026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B4DCBBA6-3CFE-454C-915B-2F557CCB50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FA9522D-261C-456E-9909-C0D312DD7B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8F42A2-8DE7-4D71-92CA-346712661A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F32067-15CE-4CFC-88B9-89B3A0F219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A6A9F5FE-36A4-49E1-AC13-A222A228958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>
            <a:extLst>
              <a:ext uri="{FF2B5EF4-FFF2-40B4-BE49-F238E27FC236}">
                <a16:creationId xmlns:a16="http://schemas.microsoft.com/office/drawing/2014/main" id="{7840EE95-7363-4926-B290-3A8210046C0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Notes Placeholder 2">
            <a:extLst>
              <a:ext uri="{FF2B5EF4-FFF2-40B4-BE49-F238E27FC236}">
                <a16:creationId xmlns:a16="http://schemas.microsoft.com/office/drawing/2014/main" id="{63985331-A8BE-46A9-BEEC-B969CF2C8CE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14340" name="Slide Number Placeholder 3">
            <a:extLst>
              <a:ext uri="{FF2B5EF4-FFF2-40B4-BE49-F238E27FC236}">
                <a16:creationId xmlns:a16="http://schemas.microsoft.com/office/drawing/2014/main" id="{464F66CD-1804-40B2-A3A3-A8D525DB9A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CAE71682-A2E8-46DE-A7B3-20F0B3AD6C26}" type="slidenum">
              <a:rPr lang="en-US" altLang="en-US"/>
              <a:pPr/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9F5FE-36A4-49E1-AC13-A222A2289585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55336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9F5FE-36A4-49E1-AC13-A222A2289585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296784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9F5FE-36A4-49E1-AC13-A222A2289585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05341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80920D-B6AE-44B7-A614-3E19FD85E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85013B-3371-48FC-9407-F92BD42A5CA9}" type="datetime1">
              <a:rPr lang="en-US"/>
              <a:pPr>
                <a:defRPr/>
              </a:pPr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FADB77-829A-477C-9C0C-151A5096E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39F79D-D26C-4B9A-9720-48C3725EF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1673AE-CDED-468E-9E60-13F9774D8EF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12531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9E68E3-5E88-4FA2-8C26-450DBAD82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E8CA06-C0FA-4A35-B9BF-5CBFE5CB9336}" type="datetime1">
              <a:rPr lang="en-US"/>
              <a:pPr>
                <a:defRPr/>
              </a:pPr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E4CD55-6E4A-4A63-98EF-FA743743F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0F5683-DEE8-45FB-8DAD-B25D6E885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21BEF2-95F5-417E-9097-980329164CC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73740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0D9E7-0515-400A-86E2-F96F6242C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BE9779-8E71-4A34-ACDD-8BB13DEE2332}" type="datetime1">
              <a:rPr lang="en-US"/>
              <a:pPr>
                <a:defRPr/>
              </a:pPr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CE256D-C27A-4160-9DB1-FF5E7864C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6E034D-8222-48D3-89D9-7CEBFB7D4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87B5C6-F485-457A-88E2-FF928EC41EA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45745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62788E1-6A09-47B5-BC67-57CE1B8E3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4B0931-B853-4338-857D-EC51455FBAEA}" type="datetime1">
              <a:rPr lang="en-US"/>
              <a:pPr>
                <a:defRPr/>
              </a:pPr>
              <a:t>4/1/2026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6718E1B-2187-4A00-8130-FF0CCF185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B829CFF-BC30-4A03-9C08-2E85922F6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30785C-3C3F-4D72-B6E5-E6D38F55586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3186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A1461F9-281D-4D2B-9EF4-0961D9F5A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F35988-ABC1-47B4-8337-180F809C6E04}" type="datetime1">
              <a:rPr lang="en-US"/>
              <a:pPr>
                <a:defRPr/>
              </a:pPr>
              <a:t>4/1/2026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2E3E607-E774-4F71-ACBB-FE851B943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4CFFD8A-7C08-446F-B45D-132D79B6B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98D808-031B-4F6F-A439-4ABFE2BF389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88178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AFECACAB-8F93-4899-AD13-62CA490A5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DF58F0-0B71-4C0D-BBA6-85074C846FE6}" type="datetime1">
              <a:rPr lang="en-US"/>
              <a:pPr>
                <a:defRPr/>
              </a:pPr>
              <a:t>4/1/2026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46160C0-EE48-4D0E-A5AB-28501651F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AD730CE-7954-4549-BAAE-6B545D3EC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B35500-9D2C-47A3-BF87-3935A794A65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60302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17E62CF2-CD3F-46A2-8A14-8052FB3F9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33D11A-F1DE-4A50-95C9-D10180535CA0}" type="datetime1">
              <a:rPr lang="en-US"/>
              <a:pPr>
                <a:defRPr/>
              </a:pPr>
              <a:t>4/1/2026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41D14B1-D7C1-4357-B6C5-D6BDF3D8A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1A949BD-68C3-4EEF-B906-09FE3440E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610838-7400-411B-B689-2F6C35481D0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3124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5B26A4A-8706-4957-968A-429659FA6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D890D1-ADAD-4367-ADA2-AFAFF9F81D11}" type="datetime1">
              <a:rPr lang="en-US"/>
              <a:pPr>
                <a:defRPr/>
              </a:pPr>
              <a:t>4/1/2026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0A2F1D4-1189-48DE-BA98-325CD9C25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7986B66-2394-42B1-9BDE-35C177A62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EEDBB8-2F2A-4E69-B4E6-C45A1A21932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52277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03A3A19-677F-46D0-8327-737A4396E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3651B4-9843-45AB-8E22-71543FB46DA2}" type="datetime1">
              <a:rPr lang="en-US"/>
              <a:pPr>
                <a:defRPr/>
              </a:pPr>
              <a:t>4/1/2026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EC761C7-6D46-45C5-A06E-1C9467DF5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25F70F5-D8D2-4E99-B0E5-DC927F254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600780-8261-4F2C-8AB1-4FC7C46475C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4317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8DC88-AE01-4CAA-9020-B90D8607B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94FE15-DD9A-40C6-9AF8-2CF0E2DC9FED}" type="datetime1">
              <a:rPr lang="en-US"/>
              <a:pPr>
                <a:defRPr/>
              </a:pPr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D2C5CF-6CAA-4307-B6A8-DF54D826B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4552A0-9D79-48E4-B25F-688BC1867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26A04B-D0EF-4595-87CA-07FE647A1A7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009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B76813-D725-49F2-945C-CCAB9D2A9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0FD5AE-DF06-40E8-B10A-A7E8871D9706}" type="datetime1">
              <a:rPr lang="en-US"/>
              <a:pPr>
                <a:defRPr/>
              </a:pPr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1B94B4-C37D-4CF1-B803-70ECE9F98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CB5775-0DF8-430A-981E-D9F890F1E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B4311E-D5F2-40A4-B2D6-DDC2AFD8610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56422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BFDCBFCD-ADA5-49D9-8EC2-C25B2ED55BC0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C11E7B0C-3D44-4CB9-82E9-732D3B5E65E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830E18-6B0F-4561-A8EC-664E8249DE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6A74232-FC8A-49F8-80E8-B50A0BA80DF4}" type="datetime1">
              <a:rPr lang="en-US"/>
              <a:pPr>
                <a:defRPr/>
              </a:pPr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8380AF-395F-446F-B527-ECA9916A96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7C784E-7B42-4220-A301-963093C40A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1E04AAF9-47BF-4F68-B79A-2D00C1CD1B6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7133BE8-A87E-4DBC-98E8-2FD6622AA548}"/>
              </a:ext>
            </a:extLst>
          </p:cNvPr>
          <p:cNvSpPr txBox="1">
            <a:spLocks/>
          </p:cNvSpPr>
          <p:nvPr/>
        </p:nvSpPr>
        <p:spPr>
          <a:xfrm>
            <a:off x="152400" y="177230"/>
            <a:ext cx="8839200" cy="6477000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endParaRPr lang="en-US" sz="44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B2990C-D7A3-4312-BBC7-CC2452B79E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0869" y="913787"/>
            <a:ext cx="7315200" cy="838200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3600" b="1" dirty="0"/>
              <a:t>   </a:t>
            </a:r>
            <a:br>
              <a:rPr lang="en-US" sz="2400" dirty="0"/>
            </a:br>
            <a:r>
              <a:rPr lang="en-US" sz="2400" b="1" dirty="0">
                <a:solidFill>
                  <a:srgbClr val="FF0000"/>
                </a:solidFill>
              </a:rPr>
              <a:t>DEPARTMENT OF COMPUTER SCIENCE AND ENGINEERING </a:t>
            </a:r>
            <a:br>
              <a:rPr lang="en-US" sz="2400" b="1" dirty="0"/>
            </a:br>
            <a:endParaRPr lang="en-US" sz="3600" b="1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81E9BB19-E97E-45D3-BB72-E34CC7BF07BD}"/>
              </a:ext>
            </a:extLst>
          </p:cNvPr>
          <p:cNvSpPr txBox="1">
            <a:spLocks/>
          </p:cNvSpPr>
          <p:nvPr/>
        </p:nvSpPr>
        <p:spPr>
          <a:xfrm>
            <a:off x="228600" y="5181600"/>
            <a:ext cx="8686800" cy="1371600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45720" rIns="91440" bIns="45720" anchor="t">
            <a:normAutofit fontScale="77500" lnSpcReduction="20000"/>
          </a:bodyPr>
          <a:lstStyle/>
          <a:p>
            <a:pPr algn="ctr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300" b="1" u="sng" dirty="0">
                <a:solidFill>
                  <a:srgbClr val="FF0000"/>
                </a:solidFill>
              </a:rPr>
              <a:t>Guide Details</a:t>
            </a:r>
          </a:p>
          <a:p>
            <a:pPr algn="ctr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IN" sz="3200" dirty="0"/>
              <a:t>Ganesh Deshmukh</a:t>
            </a:r>
            <a:endParaRPr lang="en-US" sz="3000" b="1" dirty="0">
              <a:solidFill>
                <a:srgbClr val="002060"/>
              </a:solidFill>
              <a:cs typeface="Calibri"/>
            </a:endParaRPr>
          </a:p>
          <a:p>
            <a:pPr algn="ctr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IN" sz="2400" dirty="0"/>
              <a:t>Assistant Professor</a:t>
            </a:r>
            <a:r>
              <a:rPr lang="en-US" sz="2200" b="1" dirty="0">
                <a:solidFill>
                  <a:srgbClr val="002060"/>
                </a:solidFill>
              </a:rPr>
              <a:t> </a:t>
            </a:r>
          </a:p>
          <a:p>
            <a:pPr algn="ctr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2200" b="1" dirty="0">
                <a:solidFill>
                  <a:srgbClr val="002060"/>
                </a:solidFill>
              </a:rPr>
              <a:t>Department of CSE</a:t>
            </a:r>
          </a:p>
          <a:p>
            <a:pPr algn="ctr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endParaRPr lang="en-US" sz="1600" b="1" dirty="0">
              <a:solidFill>
                <a:srgbClr val="002060"/>
              </a:solidFill>
            </a:endParaRPr>
          </a:p>
          <a:p>
            <a:pPr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endParaRPr lang="en-US" sz="32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3034EB3-E5B7-485E-984F-A0E903E0E9A7}"/>
              </a:ext>
            </a:extLst>
          </p:cNvPr>
          <p:cNvSpPr txBox="1">
            <a:spLocks/>
          </p:cNvSpPr>
          <p:nvPr/>
        </p:nvSpPr>
        <p:spPr>
          <a:xfrm>
            <a:off x="2743200" y="2286000"/>
            <a:ext cx="3657600" cy="5334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anchor="ctr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BATCH ID : 23MPCS-G6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B366ABC-1782-4359-A4C5-6579CEFE1A4B}"/>
              </a:ext>
            </a:extLst>
          </p:cNvPr>
          <p:cNvSpPr txBox="1">
            <a:spLocks/>
          </p:cNvSpPr>
          <p:nvPr/>
        </p:nvSpPr>
        <p:spPr>
          <a:xfrm>
            <a:off x="304800" y="1524000"/>
            <a:ext cx="8610600" cy="609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1440" tIns="45720" rIns="91440" bIns="45720" anchor="ctr">
            <a:normAutofit fontScale="70000" lnSpcReduction="20000"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28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Title: </a:t>
            </a:r>
            <a:r>
              <a:rPr lang="en-US" sz="2800" dirty="0">
                <a:solidFill>
                  <a:schemeClr val="tx1"/>
                </a:solidFill>
              </a:rPr>
              <a:t>A Generative AI and RAG-Based Intelligent System for Automated Smart Campus Problem Detection and Resolution</a:t>
            </a:r>
            <a:endParaRPr lang="en-US" sz="2800" b="1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4B4BF96B-13BF-42E1-B330-96082705FE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570389"/>
              </p:ext>
            </p:extLst>
          </p:nvPr>
        </p:nvGraphicFramePr>
        <p:xfrm>
          <a:off x="1301869" y="2971800"/>
          <a:ext cx="6934200" cy="15849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7800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94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46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S. 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Roll. 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Student 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23881A05CB</a:t>
                      </a:r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B. SANDEEP</a:t>
                      </a:r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23881A05CD</a:t>
                      </a:r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B. NAGASRI</a:t>
                      </a:r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23881A05DX</a:t>
                      </a:r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P. ARAVEEN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7C380515-DA03-C63F-7DAB-FBAD305F3C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4114" y="267313"/>
            <a:ext cx="1244394" cy="9518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3BCD6-0BDF-480C-A0B6-637D78994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</a:rPr>
              <a:t>Mini Project Outlines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F8B19-D2C3-436D-A49D-CAD348F238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014413"/>
            <a:ext cx="8763000" cy="5614987"/>
          </a:xfr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>
            <a:noAutofit/>
          </a:bodyPr>
          <a:lstStyle/>
          <a:p>
            <a:pPr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1800" b="1" dirty="0">
                <a:ea typeface="+mn-lt"/>
                <a:cs typeface="+mn-lt"/>
              </a:rPr>
              <a:t>Introduction</a:t>
            </a:r>
            <a:endParaRPr lang="en-US" sz="1800" dirty="0">
              <a:ea typeface="+mn-lt"/>
              <a:cs typeface="+mn-lt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1800" b="1" dirty="0">
                <a:ea typeface="+mn-lt"/>
                <a:cs typeface="+mn-lt"/>
              </a:rPr>
              <a:t>Existing System Vs Proposed </a:t>
            </a: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1800" b="1" dirty="0">
                <a:ea typeface="+mn-lt"/>
                <a:cs typeface="+mn-lt"/>
              </a:rPr>
              <a:t>Research Gaps </a:t>
            </a: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1800" b="1" dirty="0">
                <a:ea typeface="+mn-lt"/>
                <a:cs typeface="+mn-lt"/>
              </a:rPr>
              <a:t>Problem Statement</a:t>
            </a:r>
            <a:endParaRPr lang="en-US" sz="1800" dirty="0">
              <a:ea typeface="+mn-lt"/>
              <a:cs typeface="+mn-lt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1800" b="1" dirty="0">
                <a:ea typeface="+mn-lt"/>
                <a:cs typeface="+mn-lt"/>
              </a:rPr>
              <a:t>Proposed Project Objectives</a:t>
            </a:r>
            <a:endParaRPr lang="en-US" sz="1800" dirty="0">
              <a:ea typeface="+mn-lt"/>
              <a:cs typeface="+mn-lt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1800" b="1" dirty="0">
                <a:ea typeface="+mn-lt"/>
                <a:cs typeface="+mn-lt"/>
              </a:rPr>
              <a:t>Proposed Project Outcomes</a:t>
            </a:r>
            <a:endParaRPr lang="en-US" sz="1800" dirty="0">
              <a:ea typeface="+mn-lt"/>
              <a:cs typeface="+mn-lt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1800" b="1" dirty="0">
                <a:ea typeface="+mn-lt"/>
                <a:cs typeface="+mn-lt"/>
              </a:rPr>
              <a:t>Software and Hardware Requirements</a:t>
            </a:r>
            <a:endParaRPr lang="en-US" sz="1800" dirty="0">
              <a:ea typeface="+mn-lt"/>
              <a:cs typeface="+mn-lt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1800" b="1" dirty="0">
                <a:ea typeface="+mn-lt"/>
                <a:cs typeface="+mn-lt"/>
              </a:rPr>
              <a:t>Architectural Diagram</a:t>
            </a:r>
            <a:endParaRPr lang="en-US" sz="1800" dirty="0">
              <a:ea typeface="+mn-lt"/>
              <a:cs typeface="+mn-lt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Font typeface="Arial,Sans-Serif" panose="020B0604020202020204" pitchFamily="34" charset="0"/>
              <a:defRPr/>
            </a:pPr>
            <a:r>
              <a:rPr lang="en-US" sz="1800" b="1" dirty="0">
                <a:ea typeface="+mn-lt"/>
                <a:cs typeface="+mn-lt"/>
              </a:rPr>
              <a:t>Proposed Methods and Algorithms </a:t>
            </a: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Font typeface="Arial,Sans-Serif" panose="020B0604020202020204" pitchFamily="34" charset="0"/>
              <a:defRPr/>
            </a:pPr>
            <a:r>
              <a:rPr lang="en-US" sz="1800" b="1" dirty="0">
                <a:ea typeface="+mn-lt"/>
                <a:cs typeface="+mn-lt"/>
              </a:rPr>
              <a:t>Results</a:t>
            </a: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Font typeface="Arial,Sans-Serif" panose="020B0604020202020204" pitchFamily="34" charset="0"/>
              <a:defRPr/>
            </a:pPr>
            <a:r>
              <a:rPr lang="en-US" sz="1800" b="1" dirty="0">
                <a:ea typeface="+mn-lt"/>
                <a:cs typeface="+mn-lt"/>
              </a:rPr>
              <a:t>Research Paper (Submission Proofs)</a:t>
            </a: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Font typeface="Arial,Sans-Serif" panose="020B0604020202020204" pitchFamily="34" charset="0"/>
              <a:defRPr/>
            </a:pPr>
            <a:r>
              <a:rPr lang="en-US" sz="1800" b="1" dirty="0">
                <a:ea typeface="+mn-lt"/>
                <a:cs typeface="+mn-lt"/>
              </a:rPr>
              <a:t>Conclusion</a:t>
            </a:r>
            <a:endParaRPr lang="en-US" sz="1100" dirty="0"/>
          </a:p>
          <a:p>
            <a:pPr fontAlgn="auto">
              <a:spcAft>
                <a:spcPts val="0"/>
              </a:spcAft>
              <a:defRPr/>
            </a:pPr>
            <a:endParaRPr lang="en-US" sz="1100" dirty="0"/>
          </a:p>
          <a:p>
            <a:pPr fontAlgn="auto">
              <a:spcAft>
                <a:spcPts val="0"/>
              </a:spcAft>
              <a:defRPr/>
            </a:pPr>
            <a:endParaRPr lang="en-US" sz="1100" dirty="0"/>
          </a:p>
          <a:p>
            <a:pPr fontAlgn="auto">
              <a:spcAft>
                <a:spcPts val="0"/>
              </a:spcAft>
              <a:defRPr/>
            </a:pPr>
            <a:endParaRPr lang="en-US" sz="1100" dirty="0"/>
          </a:p>
          <a:p>
            <a:pPr fontAlgn="auto">
              <a:spcAft>
                <a:spcPts val="0"/>
              </a:spcAft>
              <a:defRPr/>
            </a:pPr>
            <a:endParaRPr lang="en-US" sz="1100" dirty="0"/>
          </a:p>
          <a:p>
            <a:pPr fontAlgn="auto">
              <a:spcAft>
                <a:spcPts val="0"/>
              </a:spcAft>
              <a:defRPr/>
            </a:pPr>
            <a:endParaRPr lang="en-US" sz="11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A625E3-5C6C-47E5-A216-96E946FCD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3DC7A18A-CF2F-40C0-9C89-65D9A71130B3}" type="slidenum">
              <a:rPr lang="en-US" altLang="en-US">
                <a:solidFill>
                  <a:srgbClr val="898989"/>
                </a:solidFill>
              </a:rPr>
              <a:pPr/>
              <a:t>2</a:t>
            </a:fld>
            <a:endParaRPr lang="en-US" altLang="en-US">
              <a:solidFill>
                <a:srgbClr val="898989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FCE242-E21F-4D18-A237-B7CA4E6562C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39624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CSE : MINI PROJECT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C0A1494-F87F-EC9E-599E-0541CB2FCA04}"/>
              </a:ext>
            </a:extLst>
          </p:cNvPr>
          <p:cNvSpPr txBox="1">
            <a:spLocks/>
          </p:cNvSpPr>
          <p:nvPr/>
        </p:nvSpPr>
        <p:spPr bwMode="auto">
          <a:xfrm>
            <a:off x="228600" y="1066800"/>
            <a:ext cx="8763000" cy="5562600"/>
          </a:xfrm>
          <a:prstGeom prst="rect">
            <a:avLst/>
          </a:prstGeom>
          <a:ln w="25400" cap="flat" cmpd="sng" algn="ctr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endParaRPr lang="en-US" sz="2800"/>
          </a:p>
          <a:p>
            <a:pPr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800" dirty="0">
              <a:cs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85FFB9-D3CC-44A9-9FC7-C2A67668E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559"/>
            <a:ext cx="7730490" cy="7921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3200" b="1" dirty="0">
                <a:solidFill>
                  <a:srgbClr val="C00000"/>
                </a:solidFill>
              </a:rPr>
              <a:t>Introduction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DEPARTMENT OF CSE : MINI PROJECT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18BBA2-811F-41E1-AEAF-A3557D1BE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FDEC69A3-0958-4FE2-B1B4-1106920B80C0}" type="slidenum">
              <a:rPr lang="en-US" altLang="en-US">
                <a:solidFill>
                  <a:srgbClr val="898989"/>
                </a:solidFill>
              </a:rPr>
              <a:pPr/>
              <a:t>3</a:t>
            </a:fld>
            <a:endParaRPr lang="en-US" altLang="en-US">
              <a:solidFill>
                <a:srgbClr val="898989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43C64E-E448-0AE8-AC06-C25391F1722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19" name="Rectangle 9">
            <a:extLst>
              <a:ext uri="{FF2B5EF4-FFF2-40B4-BE49-F238E27FC236}">
                <a16:creationId xmlns:a16="http://schemas.microsoft.com/office/drawing/2014/main" id="{D608A704-C102-979C-EC73-4C9C036151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1" y="1601769"/>
            <a:ext cx="8229600" cy="4204356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Overview: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 AI-powered complaint management platform designed for educational institutions to automate and streamline issue resolution.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Core Technology: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Leverages Natural Language Processing (NLP), Generative AI (Google Gemini), and Retrieval-Augmented Generation (RAG).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Key Functionality: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Automatically classifies student complaints, predicts issue priority, and instantly generates step-by-step resolution pathways (SOPs) to assist administrators.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Keywords: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Generative Artificial Intelligence, Retrieval-Augmented Generation, NLP, Smart Campus, Automated Complaint Management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95D8A08-A5D6-1AE9-25C8-9E91D6B765DA}"/>
              </a:ext>
            </a:extLst>
          </p:cNvPr>
          <p:cNvSpPr txBox="1">
            <a:spLocks/>
          </p:cNvSpPr>
          <p:nvPr/>
        </p:nvSpPr>
        <p:spPr bwMode="auto">
          <a:xfrm>
            <a:off x="228600" y="1066800"/>
            <a:ext cx="8763000" cy="5562600"/>
          </a:xfrm>
          <a:prstGeom prst="rect">
            <a:avLst/>
          </a:prstGeom>
          <a:ln w="25400" cap="flat" cmpd="sng" algn="ctr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endParaRPr lang="en-US" sz="2800"/>
          </a:p>
          <a:p>
            <a:pPr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800" dirty="0">
              <a:cs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128CED-A8D7-449C-97C8-99B083645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3200" b="1" dirty="0">
                <a:solidFill>
                  <a:srgbClr val="C00000"/>
                </a:solidFill>
              </a:rPr>
              <a:t>Existing System Vs Proposed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96F442-E18B-4635-9FAA-701AD322F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D5C5A9F0-E73D-4B60-A9C9-5ECD709B9C67}" type="slidenum">
              <a:rPr lang="en-US" altLang="en-US">
                <a:solidFill>
                  <a:srgbClr val="898989"/>
                </a:solidFill>
              </a:rPr>
              <a:pPr/>
              <a:t>4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D6B6BA2-8763-4063-9DAF-378FCB0B4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622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CSE MINI PROJECT REVIEW-1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59D3BFA5-64CC-B051-9996-9B02396E9F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78909198"/>
              </p:ext>
            </p:extLst>
          </p:nvPr>
        </p:nvGraphicFramePr>
        <p:xfrm>
          <a:off x="457200" y="1295401"/>
          <a:ext cx="7886436" cy="4892004"/>
        </p:xfrm>
        <a:graphic>
          <a:graphicData uri="http://schemas.openxmlformats.org/drawingml/2006/table">
            <a:tbl>
              <a:tblPr/>
              <a:tblGrid>
                <a:gridCol w="2628812">
                  <a:extLst>
                    <a:ext uri="{9D8B030D-6E8A-4147-A177-3AD203B41FA5}">
                      <a16:colId xmlns:a16="http://schemas.microsoft.com/office/drawing/2014/main" val="1638945797"/>
                    </a:ext>
                  </a:extLst>
                </a:gridCol>
                <a:gridCol w="2628812">
                  <a:extLst>
                    <a:ext uri="{9D8B030D-6E8A-4147-A177-3AD203B41FA5}">
                      <a16:colId xmlns:a16="http://schemas.microsoft.com/office/drawing/2014/main" val="126904411"/>
                    </a:ext>
                  </a:extLst>
                </a:gridCol>
                <a:gridCol w="2628812">
                  <a:extLst>
                    <a:ext uri="{9D8B030D-6E8A-4147-A177-3AD203B41FA5}">
                      <a16:colId xmlns:a16="http://schemas.microsoft.com/office/drawing/2014/main" val="2589663718"/>
                    </a:ext>
                  </a:extLst>
                </a:gridCol>
              </a:tblGrid>
              <a:tr h="3578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effectLst/>
                          <a:latin typeface="+mn-lt"/>
                        </a:rPr>
                        <a:t>Feature</a:t>
                      </a:r>
                      <a:endParaRPr lang="en-IN" sz="1800">
                        <a:effectLst/>
                        <a:latin typeface="+mn-lt"/>
                      </a:endParaRPr>
                    </a:p>
                  </a:txBody>
                  <a:tcPr marL="83814" marR="83814" marT="41907" marB="4190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effectLst/>
                          <a:latin typeface="+mn-lt"/>
                        </a:rPr>
                        <a:t>Existing Manual System</a:t>
                      </a:r>
                      <a:endParaRPr lang="en-IN" sz="1800">
                        <a:effectLst/>
                        <a:latin typeface="+mn-lt"/>
                      </a:endParaRPr>
                    </a:p>
                  </a:txBody>
                  <a:tcPr marL="83814" marR="83814" marT="41907" marB="4190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effectLst/>
                          <a:latin typeface="+mn-lt"/>
                        </a:rPr>
                        <a:t>Proposed AI System</a:t>
                      </a:r>
                      <a:endParaRPr lang="en-IN" sz="1800">
                        <a:effectLst/>
                        <a:latin typeface="+mn-lt"/>
                      </a:endParaRPr>
                    </a:p>
                  </a:txBody>
                  <a:tcPr marL="83814" marR="83814" marT="41907" marB="4190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8911168"/>
                  </a:ext>
                </a:extLst>
              </a:tr>
              <a:tr h="8945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effectLst/>
                          <a:latin typeface="+mn-lt"/>
                        </a:rPr>
                        <a:t>Submission</a:t>
                      </a:r>
                      <a:endParaRPr lang="en-IN" sz="1800" dirty="0">
                        <a:effectLst/>
                        <a:latin typeface="+mn-lt"/>
                      </a:endParaRPr>
                    </a:p>
                  </a:txBody>
                  <a:tcPr marL="83814" marR="83814" marT="41907" marB="4190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  <a:latin typeface="+mn-lt"/>
                        </a:rPr>
                        <a:t>Paper registers or generic web forms.</a:t>
                      </a:r>
                    </a:p>
                  </a:txBody>
                  <a:tcPr marL="83814" marR="83814" marT="41907" marB="4190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  <a:latin typeface="+mn-lt"/>
                        </a:rPr>
                        <a:t>OTP-verified intelligent web portal with role-based access.</a:t>
                      </a:r>
                    </a:p>
                  </a:txBody>
                  <a:tcPr marL="83814" marR="83814" marT="41907" marB="4190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7887779"/>
                  </a:ext>
                </a:extLst>
              </a:tr>
              <a:tr h="8945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effectLst/>
                          <a:latin typeface="+mn-lt"/>
                        </a:rPr>
                        <a:t>Categorization</a:t>
                      </a:r>
                      <a:endParaRPr lang="en-IN" sz="1800">
                        <a:effectLst/>
                        <a:latin typeface="+mn-lt"/>
                      </a:endParaRPr>
                    </a:p>
                  </a:txBody>
                  <a:tcPr marL="83814" marR="83814" marT="41907" marB="4190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  <a:latin typeface="+mn-lt"/>
                        </a:rPr>
                        <a:t>Manual routing by administrative staff.</a:t>
                      </a:r>
                    </a:p>
                  </a:txBody>
                  <a:tcPr marL="83814" marR="83814" marT="41907" marB="4190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Auto-classification into specific campus domains using NLP.</a:t>
                      </a:r>
                    </a:p>
                  </a:txBody>
                  <a:tcPr marL="83814" marR="83814" marT="41907" marB="4190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3987658"/>
                  </a:ext>
                </a:extLst>
              </a:tr>
              <a:tr h="8945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effectLst/>
                          <a:latin typeface="+mn-lt"/>
                        </a:rPr>
                        <a:t>Prioritization</a:t>
                      </a:r>
                      <a:endParaRPr lang="en-IN" sz="1800">
                        <a:effectLst/>
                        <a:latin typeface="+mn-lt"/>
                      </a:endParaRPr>
                    </a:p>
                  </a:txBody>
                  <a:tcPr marL="83814" marR="83814" marT="41907" marB="4190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  <a:latin typeface="+mn-lt"/>
                        </a:rPr>
                        <a:t>Reactive; all issues treated sequentially.</a:t>
                      </a:r>
                    </a:p>
                  </a:txBody>
                  <a:tcPr marL="83814" marR="83814" marT="41907" marB="4190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  <a:latin typeface="+mn-lt"/>
                        </a:rPr>
                        <a:t>AI Priority Engine instantly detects urgency (High/Medium/Low).</a:t>
                      </a:r>
                    </a:p>
                  </a:txBody>
                  <a:tcPr marL="83814" marR="83814" marT="41907" marB="4190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3782015"/>
                  </a:ext>
                </a:extLst>
              </a:tr>
              <a:tr h="8945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effectLst/>
                          <a:latin typeface="+mn-lt"/>
                        </a:rPr>
                        <a:t>Resolution Strategy</a:t>
                      </a:r>
                      <a:endParaRPr lang="en-IN" sz="1800">
                        <a:effectLst/>
                        <a:latin typeface="+mn-lt"/>
                      </a:endParaRPr>
                    </a:p>
                  </a:txBody>
                  <a:tcPr marL="83814" marR="83814" marT="41907" marB="4190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  <a:latin typeface="+mn-lt"/>
                        </a:rPr>
                        <a:t>Admins rely on memory or physical SOP manuals.</a:t>
                      </a:r>
                    </a:p>
                  </a:txBody>
                  <a:tcPr marL="83814" marR="83814" marT="41907" marB="4190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  <a:latin typeface="+mn-lt"/>
                        </a:rPr>
                        <a:t>RAG Pipeline auto-generates step-by-step action plans using GenAI.</a:t>
                      </a:r>
                    </a:p>
                  </a:txBody>
                  <a:tcPr marL="83814" marR="83814" marT="41907" marB="4190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338731"/>
                  </a:ext>
                </a:extLst>
              </a:tr>
              <a:tr h="8945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effectLst/>
                          <a:latin typeface="+mn-lt"/>
                        </a:rPr>
                        <a:t>Notifications</a:t>
                      </a:r>
                      <a:endParaRPr lang="en-IN" sz="1800">
                        <a:effectLst/>
                        <a:latin typeface="+mn-lt"/>
                      </a:endParaRPr>
                    </a:p>
                  </a:txBody>
                  <a:tcPr marL="83814" marR="83814" marT="41907" marB="4190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effectLst/>
                          <a:latin typeface="+mn-lt"/>
                        </a:rPr>
                        <a:t>Slow, manual communication.</a:t>
                      </a:r>
                    </a:p>
                  </a:txBody>
                  <a:tcPr marL="83814" marR="83814" marT="41907" marB="4190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Automated </a:t>
                      </a:r>
                      <a:r>
                        <a:rPr lang="en-US" sz="1800" dirty="0" err="1">
                          <a:effectLst/>
                          <a:latin typeface="+mn-lt"/>
                        </a:rPr>
                        <a:t>EmailJS</a:t>
                      </a:r>
                      <a:r>
                        <a:rPr lang="en-US" sz="1800" dirty="0">
                          <a:effectLst/>
                          <a:latin typeface="+mn-lt"/>
                        </a:rPr>
                        <a:t> alerts for high-priority complaints.</a:t>
                      </a:r>
                    </a:p>
                  </a:txBody>
                  <a:tcPr marL="83814" marR="83814" marT="41907" marB="4190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3065676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03D90AE2-BDCA-9B3A-4F4B-21D4398447A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11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 txBox="1">
            <a:spLocks/>
          </p:cNvSpPr>
          <p:nvPr/>
        </p:nvSpPr>
        <p:spPr>
          <a:xfrm>
            <a:off x="3124200" y="6356350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69BC322-5CFB-0152-3D70-5EFC3FF483D7}"/>
              </a:ext>
            </a:extLst>
          </p:cNvPr>
          <p:cNvSpPr txBox="1">
            <a:spLocks/>
          </p:cNvSpPr>
          <p:nvPr/>
        </p:nvSpPr>
        <p:spPr bwMode="auto">
          <a:xfrm>
            <a:off x="228600" y="1066800"/>
            <a:ext cx="8763000" cy="5562600"/>
          </a:xfrm>
          <a:prstGeom prst="rect">
            <a:avLst/>
          </a:prstGeom>
          <a:ln w="25400" cap="flat" cmpd="sng" algn="ctr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endParaRPr lang="en-US" sz="2800"/>
          </a:p>
          <a:p>
            <a:pPr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800" dirty="0">
              <a:cs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128CED-A8D7-449C-97C8-99B083645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3200" b="1" dirty="0">
                <a:solidFill>
                  <a:srgbClr val="C00000"/>
                </a:solidFill>
              </a:rPr>
              <a:t>Research Gaps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96F442-E18B-4635-9FAA-701AD322F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D5C5A9F0-E73D-4B60-A9C9-5ECD709B9C67}" type="slidenum">
              <a:rPr lang="en-US" altLang="en-US">
                <a:solidFill>
                  <a:srgbClr val="898989"/>
                </a:solidFill>
              </a:rPr>
              <a:pPr/>
              <a:t>5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D6B6BA2-8763-4063-9DAF-378FCB0B4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622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CSE MINI PROJECT REVIEW-1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D90AE2-BDCA-9B3A-4F4B-21D4398447A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11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 txBox="1">
            <a:spLocks/>
          </p:cNvSpPr>
          <p:nvPr/>
        </p:nvSpPr>
        <p:spPr>
          <a:xfrm>
            <a:off x="3124200" y="6356350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B38DA4F-9708-6127-903A-2D44E43989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424327"/>
            <a:ext cx="8153401" cy="42043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Lack of Domain-Specific Context: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Traditional helpdesk software lacks an understanding of campus-specific infrastructure and academic domains.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Hallucinations in Pure GenAI: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Purely generative models can produce inaccurate responses; there is a need to ground AI outputs in actual institution documents.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Absence of Generative Intelligence: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Current systems only log problems but do not offer admins immediate, actionable solutions or Standard Operating Procedures (SOPs).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Delayed Triage: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Real-time, automated urgency detection is missing, causing critical campus issues (like electrical hazards) to sit in the same queue as minor requests.</a:t>
            </a:r>
          </a:p>
        </p:txBody>
      </p:sp>
    </p:spTree>
    <p:extLst>
      <p:ext uri="{BB962C8B-B14F-4D97-AF65-F5344CB8AC3E}">
        <p14:creationId xmlns:p14="http://schemas.microsoft.com/office/powerpoint/2010/main" val="2786579017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8A1BEDD1-3AA6-6AA8-0EDD-BBA591615AFB}"/>
              </a:ext>
            </a:extLst>
          </p:cNvPr>
          <p:cNvSpPr txBox="1">
            <a:spLocks/>
          </p:cNvSpPr>
          <p:nvPr/>
        </p:nvSpPr>
        <p:spPr bwMode="auto">
          <a:xfrm>
            <a:off x="228600" y="1066800"/>
            <a:ext cx="8763000" cy="5562600"/>
          </a:xfrm>
          <a:prstGeom prst="rect">
            <a:avLst/>
          </a:prstGeom>
          <a:ln w="25400" cap="flat" cmpd="sng" algn="ctr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endParaRPr lang="en-US" sz="2800"/>
          </a:p>
          <a:p>
            <a:pPr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800" dirty="0">
              <a:cs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128CED-A8D7-449C-97C8-99B083645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3200" b="1" dirty="0">
                <a:solidFill>
                  <a:srgbClr val="C00000"/>
                </a:solidFill>
              </a:rPr>
              <a:t>Problem Statement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96F442-E18B-4635-9FAA-701AD322F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D5C5A9F0-E73D-4B60-A9C9-5ECD709B9C67}" type="slidenum">
              <a:rPr lang="en-US" altLang="en-US">
                <a:solidFill>
                  <a:srgbClr val="898989"/>
                </a:solidFill>
              </a:rPr>
              <a:pPr/>
              <a:t>6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D6B6BA2-8763-4063-9DAF-378FCB0B4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622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CSE MINI PROJECT REVIEW-1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D90AE2-BDCA-9B3A-4F4B-21D4398447A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11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 txBox="1">
            <a:spLocks/>
          </p:cNvSpPr>
          <p:nvPr/>
        </p:nvSpPr>
        <p:spPr>
          <a:xfrm>
            <a:off x="3124200" y="6356350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874BA55-2298-D3F4-A720-28E115E9C5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1800" dirty="0"/>
              <a:t>Educational campuses receive many student complaints in unstructured text form.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Complaints are processed manually, which takes more time.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Manual classification and prioritization often cause delays and errors.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This lack of intelligent automation and real-time urgency detection leads to delayed triage, where critical issues sit alongside minor requests, causing student dissatisfaction.</a:t>
            </a:r>
          </a:p>
          <a:p>
            <a:pPr>
              <a:lnSpc>
                <a:spcPct val="150000"/>
              </a:lnSpc>
            </a:pPr>
            <a:r>
              <a:rPr lang="en-US" sz="1800" b="1" dirty="0"/>
              <a:t>Core Problem:</a:t>
            </a:r>
            <a:r>
              <a:rPr lang="en-US" sz="1800" dirty="0"/>
              <a:t> There is an urgent need for an AI-based system capable of automatically classifying, prioritizing, and suggesting real-time, policy-compliant resolution strategies for campus-related problems.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571551261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182F919-49B2-0D48-2A58-1D910AD0A243}"/>
              </a:ext>
            </a:extLst>
          </p:cNvPr>
          <p:cNvSpPr txBox="1">
            <a:spLocks/>
          </p:cNvSpPr>
          <p:nvPr/>
        </p:nvSpPr>
        <p:spPr bwMode="auto">
          <a:xfrm>
            <a:off x="228600" y="1066800"/>
            <a:ext cx="8763000" cy="5562600"/>
          </a:xfrm>
          <a:prstGeom prst="rect">
            <a:avLst/>
          </a:prstGeom>
          <a:ln w="25400" cap="flat" cmpd="sng" algn="ctr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endParaRPr lang="en-US" sz="2800"/>
          </a:p>
          <a:p>
            <a:pPr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800" dirty="0">
              <a:cs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C24ACF-E93E-429C-B571-59A1E5F85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3200" b="1" dirty="0">
                <a:solidFill>
                  <a:srgbClr val="C00000"/>
                </a:solidFill>
              </a:rPr>
              <a:t>Proposed Project Objectives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44F6A7-E80B-4C13-8FAA-7BE38155F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83C13DFD-FA58-48AD-B109-2C30D8D6F058}" type="slidenum">
              <a:rPr lang="en-US" altLang="en-US">
                <a:solidFill>
                  <a:srgbClr val="898989"/>
                </a:solidFill>
              </a:rPr>
              <a:pPr/>
              <a:t>7</a:t>
            </a:fld>
            <a:endParaRPr lang="en-US" altLang="en-US">
              <a:solidFill>
                <a:srgbClr val="898989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D567A5-0A6B-AFA0-3540-53A824978C3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 txBox="1">
            <a:spLocks/>
          </p:cNvSpPr>
          <p:nvPr/>
        </p:nvSpPr>
        <p:spPr>
          <a:xfrm>
            <a:off x="3124200" y="6356350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dirty="0"/>
              <a:t>DEPARTMENT OF CSE : MINI PROJECT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FB801A9-4FDB-17DE-81D5-9ABCA5319B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/>
              <a:t>To develop an accessible platform with strict student verification (Roll Number/ID format) for seamless reporting.</a:t>
            </a:r>
          </a:p>
          <a:p>
            <a:endParaRPr lang="en-US" sz="1800" dirty="0"/>
          </a:p>
          <a:p>
            <a:r>
              <a:rPr lang="en-US" sz="1800" dirty="0"/>
              <a:t>To automatically classify student complaints based on category and priority using NLP and Generative AI.</a:t>
            </a:r>
          </a:p>
          <a:p>
            <a:endParaRPr lang="en-US" sz="1800" dirty="0"/>
          </a:p>
          <a:p>
            <a:r>
              <a:rPr lang="en-US" sz="1800" dirty="0"/>
              <a:t>To implement a Retrieval-Augmented Generation (RAG) pipeline to retrieve relevant campus Standard Operating Procedures (SOPs) for each specific complaint.</a:t>
            </a:r>
          </a:p>
          <a:p>
            <a:endParaRPr lang="en-US" sz="1800" dirty="0"/>
          </a:p>
          <a:p>
            <a:r>
              <a:rPr lang="en-US" sz="1800" dirty="0"/>
              <a:t>To convert unstructured complaint text into structured, accurate, and policy-compliant administrative tickets and action plans.</a:t>
            </a:r>
          </a:p>
          <a:p>
            <a:endParaRPr lang="en-US" sz="1800" dirty="0"/>
          </a:p>
          <a:p>
            <a:r>
              <a:rPr lang="en-US" sz="1800" dirty="0"/>
              <a:t>To automate critical incident notifications via email for rapid administrative intervention.</a:t>
            </a:r>
            <a:endParaRPr lang="en-IN" sz="1800" dirty="0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F6EA6F2-D975-BDA0-8DA3-99294D0470BF}"/>
              </a:ext>
            </a:extLst>
          </p:cNvPr>
          <p:cNvSpPr txBox="1">
            <a:spLocks/>
          </p:cNvSpPr>
          <p:nvPr/>
        </p:nvSpPr>
        <p:spPr bwMode="auto">
          <a:xfrm>
            <a:off x="228600" y="1066800"/>
            <a:ext cx="8763000" cy="5562600"/>
          </a:xfrm>
          <a:prstGeom prst="rect">
            <a:avLst/>
          </a:prstGeom>
          <a:ln w="25400" cap="flat" cmpd="sng" algn="ctr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endParaRPr lang="en-US" sz="2800"/>
          </a:p>
          <a:p>
            <a:pPr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800" dirty="0">
              <a:cs typeface="Calibri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sz="3200" b="1" dirty="0">
                <a:solidFill>
                  <a:srgbClr val="C00000"/>
                </a:solidFill>
              </a:rPr>
              <a:t>Proposed Project Outcomes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pPr/>
              <a:t>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E2FDDD-2424-0E7F-DD96-199FAF1E2F0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 txBox="1">
            <a:spLocks/>
          </p:cNvSpPr>
          <p:nvPr/>
        </p:nvSpPr>
        <p:spPr>
          <a:xfrm>
            <a:off x="3124200" y="6356350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dirty="0"/>
              <a:t>DEPARTMENT OF CSE : MINI PROJECT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95D54A3-8E80-C244-4678-3ED0CE3401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1" dirty="0"/>
              <a:t>Reduced Response Time:</a:t>
            </a:r>
            <a:r>
              <a:rPr lang="en-US" sz="1800" dirty="0"/>
              <a:t> Instant elimination of manual sorting and triaging via AI-driven classification.</a:t>
            </a:r>
          </a:p>
          <a:p>
            <a:endParaRPr lang="en-US" sz="1800" dirty="0"/>
          </a:p>
          <a:p>
            <a:r>
              <a:rPr lang="en-US" sz="1800" b="1" dirty="0"/>
              <a:t>Enhanced Administrative Efficiency:</a:t>
            </a:r>
            <a:r>
              <a:rPr lang="en-US" sz="1800" dirty="0"/>
              <a:t> Admins receive ready-to-execute action plans rather than just raw complaint data.</a:t>
            </a:r>
          </a:p>
          <a:p>
            <a:endParaRPr lang="en-US" sz="1800" dirty="0"/>
          </a:p>
          <a:p>
            <a:r>
              <a:rPr lang="en-US" sz="1800" b="1" dirty="0"/>
              <a:t>Data-Driven Decisions:</a:t>
            </a:r>
            <a:r>
              <a:rPr lang="en-US" sz="1800" dirty="0"/>
              <a:t> Identification of frequently recurring campus issues through interactive Chart.js analytics.</a:t>
            </a:r>
          </a:p>
          <a:p>
            <a:endParaRPr lang="en-US" sz="1800" dirty="0"/>
          </a:p>
          <a:p>
            <a:r>
              <a:rPr lang="en-US" sz="1800" b="1" dirty="0"/>
              <a:t>Improved Reliability:</a:t>
            </a:r>
            <a:r>
              <a:rPr lang="en-US" sz="1800" dirty="0"/>
              <a:t> Significant reduction in AI hallucinations by grounding responses strictly in retrieved campus SOPs.</a:t>
            </a:r>
          </a:p>
          <a:p>
            <a:endParaRPr lang="en-US" sz="1800" dirty="0"/>
          </a:p>
          <a:p>
            <a:r>
              <a:rPr lang="en-US" sz="1800" b="1" dirty="0"/>
              <a:t>Scalable Architecture:</a:t>
            </a:r>
            <a:r>
              <a:rPr lang="en-US" sz="1800" dirty="0"/>
              <a:t> A fully operational framework running on Serverless Python &amp; React, capable of institution-wide deployment.</a:t>
            </a:r>
            <a:endParaRPr lang="en-IN" sz="1800" dirty="0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sz="3200" b="1" dirty="0">
                <a:solidFill>
                  <a:srgbClr val="C00000"/>
                </a:solidFill>
              </a:rPr>
              <a:t>Software and Hardware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066800"/>
            <a:ext cx="8763000" cy="5562600"/>
          </a:xfr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900" b="1" dirty="0"/>
              <a:t>Software Requirements:</a:t>
            </a:r>
            <a:endParaRPr lang="en-IN" sz="1900" dirty="0"/>
          </a:p>
          <a:p>
            <a:pPr>
              <a:lnSpc>
                <a:spcPct val="150000"/>
              </a:lnSpc>
            </a:pPr>
            <a:r>
              <a:rPr lang="en-IN" sz="1900" b="1" dirty="0"/>
              <a:t>Frontend:</a:t>
            </a:r>
            <a:r>
              <a:rPr lang="en-IN" sz="1900" dirty="0"/>
              <a:t> React 18, React Router, Chart.js, Framer Motion, standard CSS.</a:t>
            </a:r>
          </a:p>
          <a:p>
            <a:pPr>
              <a:lnSpc>
                <a:spcPct val="150000"/>
              </a:lnSpc>
            </a:pPr>
            <a:r>
              <a:rPr lang="en-IN" sz="1900" b="1" dirty="0"/>
              <a:t>Backend / AI Engine:</a:t>
            </a:r>
            <a:r>
              <a:rPr lang="en-IN" sz="1900" dirty="0"/>
              <a:t> Python 3.9+, standard built-in libraries (</a:t>
            </a:r>
            <a:r>
              <a:rPr lang="en-IN" sz="1900" dirty="0" err="1"/>
              <a:t>json</a:t>
            </a:r>
            <a:r>
              <a:rPr lang="en-IN" sz="1900" dirty="0"/>
              <a:t>, re, </a:t>
            </a:r>
            <a:r>
              <a:rPr lang="en-IN" sz="1900" dirty="0" err="1"/>
              <a:t>urllib</a:t>
            </a:r>
            <a:r>
              <a:rPr lang="en-IN" sz="1900" dirty="0"/>
              <a:t>), Google Gemini AI API.</a:t>
            </a:r>
          </a:p>
          <a:p>
            <a:pPr>
              <a:lnSpc>
                <a:spcPct val="150000"/>
              </a:lnSpc>
            </a:pPr>
            <a:r>
              <a:rPr lang="en-IN" sz="1900" b="1" dirty="0"/>
              <a:t>Deployment &amp; Services:</a:t>
            </a:r>
            <a:r>
              <a:rPr lang="en-IN" sz="1900" dirty="0"/>
              <a:t> </a:t>
            </a:r>
            <a:r>
              <a:rPr lang="en-IN" sz="1900" dirty="0" err="1"/>
              <a:t>Vercel</a:t>
            </a:r>
            <a:r>
              <a:rPr lang="en-IN" sz="1900" dirty="0"/>
              <a:t> Serverless Functions, </a:t>
            </a:r>
            <a:r>
              <a:rPr lang="en-IN" sz="1900" dirty="0" err="1"/>
              <a:t>EmailJS</a:t>
            </a:r>
            <a:r>
              <a:rPr lang="en-IN" sz="1900" dirty="0"/>
              <a:t> (for OTP and alerts), Node Package Manager (</a:t>
            </a:r>
            <a:r>
              <a:rPr lang="en-IN" sz="1900" dirty="0" err="1"/>
              <a:t>npm</a:t>
            </a:r>
            <a:r>
              <a:rPr lang="en-IN" sz="1900" dirty="0"/>
              <a:t>).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900" b="1" dirty="0"/>
              <a:t>Hardware Requirements:</a:t>
            </a:r>
            <a:endParaRPr lang="en-IN" sz="1900" dirty="0"/>
          </a:p>
          <a:p>
            <a:pPr>
              <a:lnSpc>
                <a:spcPct val="150000"/>
              </a:lnSpc>
            </a:pPr>
            <a:r>
              <a:rPr lang="en-IN" sz="1900" b="1" dirty="0"/>
              <a:t>For Development/Admin:</a:t>
            </a:r>
            <a:r>
              <a:rPr lang="en-IN" sz="1900" dirty="0"/>
              <a:t> Any modern PC/Laptop (Minimum 4GB RAM, Dual-core CPU).</a:t>
            </a:r>
          </a:p>
          <a:p>
            <a:pPr>
              <a:lnSpc>
                <a:spcPct val="150000"/>
              </a:lnSpc>
            </a:pPr>
            <a:r>
              <a:rPr lang="en-IN" sz="1900" b="1" dirty="0"/>
              <a:t>For End Users:</a:t>
            </a:r>
            <a:r>
              <a:rPr lang="en-IN" sz="1900" dirty="0"/>
              <a:t> Standard Web Browser on Mobile/Desktop with an active Internet connection.</a:t>
            </a:r>
          </a:p>
          <a:p>
            <a:pPr>
              <a:buNone/>
            </a:pPr>
            <a:endParaRPr lang="en-US" sz="2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pPr/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C52FED-457C-B8CE-592D-306D2267233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 txBox="1">
            <a:spLocks/>
          </p:cNvSpPr>
          <p:nvPr/>
        </p:nvSpPr>
        <p:spPr>
          <a:xfrm>
            <a:off x="3124200" y="6356350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dirty="0"/>
              <a:t>DEPARTMENT OF CSE : MINI PROJECT</a:t>
            </a: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4" y="272283"/>
            <a:ext cx="7638305" cy="611161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sz="3200" b="1" dirty="0">
                <a:solidFill>
                  <a:srgbClr val="C00000"/>
                </a:solidFill>
              </a:rPr>
              <a:t>Architectural Diagram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010400" y="649287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/>
              <a:pPr/>
              <a:t>10</a:t>
            </a:fld>
            <a:endParaRPr lang="en-US"/>
          </a:p>
        </p:txBody>
      </p:sp>
      <p:sp>
        <p:nvSpPr>
          <p:cNvPr id="34" name="Content Placeholder 3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6DD126-8543-7714-EE4A-27D656E670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53F79F9-1FE0-3DCC-383B-AD9CC039F066}"/>
              </a:ext>
            </a:extLst>
          </p:cNvPr>
          <p:cNvSpPr txBox="1">
            <a:spLocks/>
          </p:cNvSpPr>
          <p:nvPr/>
        </p:nvSpPr>
        <p:spPr bwMode="auto">
          <a:xfrm>
            <a:off x="228600" y="1066800"/>
            <a:ext cx="8763000" cy="5562600"/>
          </a:xfrm>
          <a:prstGeom prst="rect">
            <a:avLst/>
          </a:prstGeom>
          <a:ln w="25400" cap="flat" cmpd="sng" algn="ctr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endParaRPr lang="en-US" sz="2800"/>
          </a:p>
          <a:p>
            <a:pPr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800" dirty="0">
              <a:cs typeface="Calibri"/>
            </a:endParaRPr>
          </a:p>
        </p:txBody>
      </p:sp>
      <p:sp>
        <p:nvSpPr>
          <p:cNvPr id="9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 txBox="1">
            <a:spLocks/>
          </p:cNvSpPr>
          <p:nvPr/>
        </p:nvSpPr>
        <p:spPr>
          <a:xfrm>
            <a:off x="3124200" y="6356350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dirty="0"/>
              <a:t>DEPARTMENT OF CSE : MINI PROJECT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A81B77-3320-63A1-89F6-D744A087AD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5800" y="1633728"/>
            <a:ext cx="7848600" cy="4105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9AFA865-9E91-7EE3-80CD-371C57F7F066}"/>
              </a:ext>
            </a:extLst>
          </p:cNvPr>
          <p:cNvSpPr txBox="1">
            <a:spLocks/>
          </p:cNvSpPr>
          <p:nvPr/>
        </p:nvSpPr>
        <p:spPr bwMode="auto">
          <a:xfrm>
            <a:off x="228600" y="1066800"/>
            <a:ext cx="8763000" cy="5562600"/>
          </a:xfrm>
          <a:prstGeom prst="rect">
            <a:avLst/>
          </a:prstGeom>
          <a:ln w="25400" cap="flat" cmpd="sng" algn="ctr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endParaRPr lang="en-US" sz="2800"/>
          </a:p>
          <a:p>
            <a:pPr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800" dirty="0">
              <a:cs typeface="Calibri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cs typeface="Calibri"/>
              </a:rPr>
              <a:t>PROPOSED METHOD AND ALGORITHMS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pPr/>
              <a:t>11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511E57-5637-4D94-05DC-943799E81D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9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 txBox="1">
            <a:spLocks/>
          </p:cNvSpPr>
          <p:nvPr/>
        </p:nvSpPr>
        <p:spPr>
          <a:xfrm>
            <a:off x="3124200" y="6356350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dirty="0"/>
              <a:t>DEPARTMENT OF CSE : MINI PROJECT</a:t>
            </a:r>
          </a:p>
        </p:txBody>
      </p:sp>
      <p:sp>
        <p:nvSpPr>
          <p:cNvPr id="11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 txBox="1">
            <a:spLocks/>
          </p:cNvSpPr>
          <p:nvPr/>
        </p:nvSpPr>
        <p:spPr>
          <a:xfrm>
            <a:off x="2743200" y="6310312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A9DB1DD0-52D6-F74A-0D67-38DF3638B1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601024"/>
            <a:ext cx="822960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Natural Language Processing (NLP):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Utilized for text tokenization, keyword extraction, and pattern matching to compute confidence scores for strict categorical grouping of unstructured complaints.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Priority Prediction Algorithm: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 hybrid rule-based system that analyzes sentence severity, urgent keywords (e.g., "broken," "hazard"), and domain weightings to map the complaint to Low, Medium, or High priority thresholds.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Retrieval-Augmented Generation (RAG):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Retrieval: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Maps the classified complaint to internally predefined college SOPs.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Generation: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Augments the Gemini LLM prompt with the retrieved SOP context to generate precise, real-world action plans instead of generic AI hallucinations.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9622466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710EF87-8DC2-7FC3-9E64-86C118194568}"/>
              </a:ext>
            </a:extLst>
          </p:cNvPr>
          <p:cNvSpPr txBox="1">
            <a:spLocks/>
          </p:cNvSpPr>
          <p:nvPr/>
        </p:nvSpPr>
        <p:spPr bwMode="auto">
          <a:xfrm>
            <a:off x="228600" y="1066800"/>
            <a:ext cx="8763000" cy="5562600"/>
          </a:xfrm>
          <a:prstGeom prst="rect">
            <a:avLst/>
          </a:prstGeom>
          <a:ln w="25400" cap="flat" cmpd="sng" algn="ctr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endParaRPr lang="en-US" sz="2800"/>
          </a:p>
          <a:p>
            <a:pPr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800" dirty="0">
              <a:cs typeface="Calibri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cs typeface="Calibri"/>
              </a:rPr>
              <a:t>Results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pPr/>
              <a:t>12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511E57-5637-4D94-05DC-943799E81D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10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 txBox="1">
            <a:spLocks/>
          </p:cNvSpPr>
          <p:nvPr/>
        </p:nvSpPr>
        <p:spPr>
          <a:xfrm>
            <a:off x="2743200" y="6310312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dirty="0"/>
              <a:t>DEPARTMENT OF CSE : MINI PROJECT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0C84D33-48A2-969E-A338-62C3ADB816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60045" y="1650920"/>
            <a:ext cx="8077200" cy="3365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High Accuracy Triage: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Computes categorization with distinct confidence percentages (e.g., identifying a broken fan correctly with 95% confidence).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Immediate Alerting: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Proven capability to trap high-priority flags during the Python self-test and instantly route alerts to administrators.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Actionable Intelligence: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Successfully transforms ambiguous student complaints into structured, readable tasks via the RAG pipeline.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Seamless UI/UX: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Fast, interactive dashboard renders complex complaint data into visually intuitive charts for administration.</a:t>
            </a:r>
          </a:p>
        </p:txBody>
      </p:sp>
    </p:spTree>
    <p:extLst>
      <p:ext uri="{BB962C8B-B14F-4D97-AF65-F5344CB8AC3E}">
        <p14:creationId xmlns:p14="http://schemas.microsoft.com/office/powerpoint/2010/main" val="1729660903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0A04D7A-20FE-8740-8529-2D88B72F4429}"/>
              </a:ext>
            </a:extLst>
          </p:cNvPr>
          <p:cNvSpPr txBox="1">
            <a:spLocks/>
          </p:cNvSpPr>
          <p:nvPr/>
        </p:nvSpPr>
        <p:spPr bwMode="auto">
          <a:xfrm>
            <a:off x="228600" y="1066800"/>
            <a:ext cx="8763000" cy="5562600"/>
          </a:xfrm>
          <a:prstGeom prst="rect">
            <a:avLst/>
          </a:prstGeom>
          <a:ln w="25400" cap="flat" cmpd="sng" algn="ctr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3600" b="1" dirty="0"/>
          </a:p>
          <a:p>
            <a:pPr marL="514350" indent="-51435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800" b="1" dirty="0"/>
          </a:p>
          <a:p>
            <a:pPr marL="514350" indent="-51435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800" b="1" dirty="0"/>
          </a:p>
          <a:p>
            <a:pPr marL="514350" indent="-514350"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b="1" dirty="0"/>
          </a:p>
          <a:p>
            <a:pPr marL="514350" indent="-514350"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4400" b="1" dirty="0"/>
          </a:p>
          <a:p>
            <a:pPr marL="514350" indent="-51435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800" b="1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cs typeface="Calibri"/>
              </a:rPr>
              <a:t>Research Paper (Submission Proof)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pPr/>
              <a:t>13</a:t>
            </a:fld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163C678-90B7-9102-3236-A79141ED12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304800" y="1524000"/>
            <a:ext cx="8534400" cy="4786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8511E57-5637-4D94-05DC-943799E81DC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9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 txBox="1">
            <a:spLocks/>
          </p:cNvSpPr>
          <p:nvPr/>
        </p:nvSpPr>
        <p:spPr>
          <a:xfrm>
            <a:off x="3124200" y="6356350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dirty="0"/>
              <a:t>DEPARTMENT OF CSE : MINI PROJECT</a:t>
            </a:r>
          </a:p>
        </p:txBody>
      </p:sp>
    </p:spTree>
    <p:extLst>
      <p:ext uri="{BB962C8B-B14F-4D97-AF65-F5344CB8AC3E}">
        <p14:creationId xmlns:p14="http://schemas.microsoft.com/office/powerpoint/2010/main" val="2395761429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72E3FA6-48C3-6783-4EFE-E8519E5D3C2B}"/>
              </a:ext>
            </a:extLst>
          </p:cNvPr>
          <p:cNvSpPr txBox="1">
            <a:spLocks/>
          </p:cNvSpPr>
          <p:nvPr/>
        </p:nvSpPr>
        <p:spPr bwMode="auto">
          <a:xfrm>
            <a:off x="228600" y="1066800"/>
            <a:ext cx="8763000" cy="5562600"/>
          </a:xfrm>
          <a:prstGeom prst="rect">
            <a:avLst/>
          </a:prstGeom>
          <a:ln w="25400" cap="flat" cmpd="sng" algn="ctr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endParaRPr lang="en-US" sz="2800"/>
          </a:p>
          <a:p>
            <a:pPr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800" dirty="0">
              <a:cs typeface="Calibri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cs typeface="Calibri"/>
              </a:rPr>
              <a:t>Conclusion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pPr/>
              <a:t>14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511E57-5637-4D94-05DC-943799E81D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9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 txBox="1">
            <a:spLocks/>
          </p:cNvSpPr>
          <p:nvPr/>
        </p:nvSpPr>
        <p:spPr>
          <a:xfrm>
            <a:off x="2743200" y="6310312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dirty="0"/>
              <a:t>DEPARTMENT OF CSE : MINI PROJECT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A9C2D70-DF13-B139-DC18-A6790B3AE72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747042"/>
            <a:ext cx="8077200" cy="3788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Smart Campus Problem Detection System successfully bridges the communication and operational gap between students and institution administration.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By replacing slow, manual workflows with an automated, NLP, and RAG-driven pipeline, the system not only logs complaints but intelligently drives their resolution.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It stands as a highly efficient, scalable, and modern application of Generative AI extending into everyday campus ecosystem management, ultimately enhancing student satisfaction and administrative productivity.</a:t>
            </a:r>
          </a:p>
        </p:txBody>
      </p:sp>
    </p:spTree>
    <p:extLst>
      <p:ext uri="{BB962C8B-B14F-4D97-AF65-F5344CB8AC3E}">
        <p14:creationId xmlns:p14="http://schemas.microsoft.com/office/powerpoint/2010/main" val="3445692945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DA53F-B02D-4760-90B7-DB325626B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90600"/>
            <a:ext cx="8763000" cy="5562600"/>
          </a:xfr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marL="514350" indent="-51435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3600" b="1" dirty="0"/>
          </a:p>
          <a:p>
            <a:pPr marL="514350" indent="-51435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800" b="1" dirty="0"/>
          </a:p>
          <a:p>
            <a:pPr marL="514350" indent="-51435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800" b="1" dirty="0"/>
          </a:p>
          <a:p>
            <a:pPr marL="514350" indent="-514350"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b="1" dirty="0"/>
          </a:p>
          <a:p>
            <a:pPr marL="514350" indent="-514350"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4400" b="1" dirty="0"/>
              <a:t>Thank You</a:t>
            </a:r>
          </a:p>
          <a:p>
            <a:pPr marL="514350" indent="-51435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800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9BB240-5782-410E-A3EF-F343719E4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518D7D88-921A-4D31-AE25-21776C2970CA}" type="slidenum">
              <a:rPr lang="en-US" altLang="en-US" dirty="0">
                <a:solidFill>
                  <a:srgbClr val="898989"/>
                </a:solidFill>
              </a:rPr>
              <a:pPr/>
              <a:t>15</a:t>
            </a:fld>
            <a:endParaRPr lang="en-US" altLang="en-US" dirty="0">
              <a:solidFill>
                <a:srgbClr val="898989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1BAED27-1BF6-0E39-B7FC-495FE68C4CB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1945" y="136525"/>
            <a:ext cx="956310" cy="731520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 txBox="1">
            <a:spLocks/>
          </p:cNvSpPr>
          <p:nvPr/>
        </p:nvSpPr>
        <p:spPr>
          <a:xfrm>
            <a:off x="2743200" y="6310312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dirty="0"/>
              <a:t>DEPARTMENT OF CSE : MINI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2723</TotalTime>
  <Words>1146</Words>
  <Application>Microsoft Office PowerPoint</Application>
  <PresentationFormat>On-screen Show (4:3)</PresentationFormat>
  <Paragraphs>156</Paragraphs>
  <Slides>15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Arial,Sans-Serif</vt:lpstr>
      <vt:lpstr>Calibri</vt:lpstr>
      <vt:lpstr>Wingdings</vt:lpstr>
      <vt:lpstr>Office Theme</vt:lpstr>
      <vt:lpstr>    DEPARTMENT OF COMPUTER SCIENCE AND ENGINEERING  </vt:lpstr>
      <vt:lpstr>Mini Project Outlines</vt:lpstr>
      <vt:lpstr>Introduction</vt:lpstr>
      <vt:lpstr>Existing System Vs Proposed </vt:lpstr>
      <vt:lpstr>Research Gaps</vt:lpstr>
      <vt:lpstr>Problem Statement</vt:lpstr>
      <vt:lpstr>Proposed Project Objectives</vt:lpstr>
      <vt:lpstr>Proposed Project Outcomes</vt:lpstr>
      <vt:lpstr>Software and Hardware Requirements</vt:lpstr>
      <vt:lpstr>Architectural Diagram</vt:lpstr>
      <vt:lpstr>PROPOSED METHOD AND ALGORITHMS</vt:lpstr>
      <vt:lpstr>Results</vt:lpstr>
      <vt:lpstr>Research Paper (Submission Proof)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Engineering</dc:title>
  <dc:creator>Venu Gopal Sakkera</dc:creator>
  <cp:lastModifiedBy>Araveen Pipavath</cp:lastModifiedBy>
  <cp:revision>530</cp:revision>
  <dcterms:created xsi:type="dcterms:W3CDTF">2006-08-16T00:00:00Z</dcterms:created>
  <dcterms:modified xsi:type="dcterms:W3CDTF">2026-04-01T12:39:44Z</dcterms:modified>
</cp:coreProperties>
</file>